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58" r:id="rId5"/>
    <p:sldId id="259" r:id="rId6"/>
    <p:sldId id="260" r:id="rId7"/>
    <p:sldId id="265" r:id="rId8"/>
    <p:sldId id="266" r:id="rId9"/>
    <p:sldId id="285" r:id="rId10"/>
    <p:sldId id="271" r:id="rId11"/>
    <p:sldId id="273" r:id="rId12"/>
    <p:sldId id="274" r:id="rId13"/>
    <p:sldId id="276" r:id="rId14"/>
    <p:sldId id="280" r:id="rId15"/>
    <p:sldId id="282" r:id="rId16"/>
    <p:sldId id="283" r:id="rId17"/>
    <p:sldId id="270" r:id="rId18"/>
  </p:sldIdLst>
  <p:sldSz cx="12192000" cy="6858000"/>
  <p:notesSz cx="6858000" cy="12192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nstrument Sans Bold" panose="020B0604020202020204" charset="0"/>
      <p:regular r:id="rId24"/>
    </p:embeddedFont>
    <p:embeddedFont>
      <p:font typeface="Instrument Sans Medium" panose="020B0604020202020204" charset="0"/>
      <p:regular r:id="rId25"/>
    </p:embeddedFont>
    <p:embeddedFont>
      <p:font typeface="Instrument Sans Semi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76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Relationship Id="rId14" Type="http://schemas.openxmlformats.org/officeDocument/2006/relationships/image" Target="../media/image59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71.png"/><Relationship Id="rId3" Type="http://schemas.openxmlformats.org/officeDocument/2006/relationships/image" Target="../media/image2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cademy-dev-alb-1183018762.ap-south-1.elb.amazonaws.com/" TargetMode="External"/><Relationship Id="rId5" Type="http://schemas.openxmlformats.org/officeDocument/2006/relationships/hyperlink" Target="mailto:zabbasdev@gmail.com" TargetMode="Externa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86" y="682327"/>
            <a:ext cx="4119856" cy="54933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Kaarkun</a:t>
            </a: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: AI-Powered Multiplatform Service Marketplace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AI-Powered multi-platform marketplace connecting customers with service providers. Final Year Project demonstrating end-to-end engineering across cloud-hosted backend, admin panel, web app, and native mobile application.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414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Members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10148"/>
            <a:ext cx="1004962" cy="1004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341014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Zaheer Abbas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818830"/>
            <a:ext cx="2224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Stack Developer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410148"/>
            <a:ext cx="1004962" cy="1004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3410148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Muhammad Dawood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4114105"/>
            <a:ext cx="2224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DevOps Engineer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410148"/>
            <a:ext cx="1004962" cy="10049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41014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Ismail Khan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818830"/>
            <a:ext cx="22242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Developer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86" y="682327"/>
            <a:ext cx="4119856" cy="54933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169616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 &amp; Architecture</a:t>
            </a:r>
            <a:endParaRPr lang="en-US" sz="5100" dirty="0"/>
          </a:p>
        </p:txBody>
      </p:sp>
      <p:sp>
        <p:nvSpPr>
          <p:cNvPr id="5" name="Text 1"/>
          <p:cNvSpPr/>
          <p:nvPr/>
        </p:nvSpPr>
        <p:spPr>
          <a:xfrm>
            <a:off x="661475" y="408344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Kaarkun is structured  from cloud infrastructure to multi-platform clients.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6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102346"/>
            <a:ext cx="3357082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316758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Infrastructure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801045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AWS:  ECS Fargate, RDS MySQL, S3, ALB, Secrets Manager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102346"/>
            <a:ext cx="335718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316758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Frontend Clients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801045"/>
            <a:ext cx="2826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mobile (Android), Next.js web app, Next.js admin panel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201" y="4111724"/>
            <a:ext cx="3357082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326136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Unified Backend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810423"/>
            <a:ext cx="28266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+ Express REST API + Socket.IO real-time server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9290" y="4111724"/>
            <a:ext cx="3357181" cy="1517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326136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Balancing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810423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ALB routes traffic by path: /api, /socket.io, /admin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4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 Overview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92709"/>
            <a:ext cx="5339820" cy="1826121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18172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590403"/>
            <a:ext cx="496180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&amp; Express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+ Socket.IO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JWT, bcryptjs, Multer, Nodemailer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992709"/>
            <a:ext cx="5339919" cy="1826121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18172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 Web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2590403"/>
            <a:ext cx="496190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Next.js 15 + React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TypeScript + TailwindCSS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Axios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826121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19685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Mobile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605536"/>
            <a:ext cx="496180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/ Dart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Provider + GoRouter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Dio + socket_io_client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826121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19685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Infrastructure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605536"/>
            <a:ext cx="496190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Terraform IaC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Actions CI/CD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Docker containerization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Multi-Platform Synchronization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57" y="2295227"/>
            <a:ext cx="6825186" cy="3123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7811" y="4553728"/>
            <a:ext cx="1281362" cy="4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 Dashboard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312944" y="4553728"/>
            <a:ext cx="1281362" cy="4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Clients Receive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706852" y="4553728"/>
            <a:ext cx="1281362" cy="4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Socket.IO Broadcasts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65655" y="4553728"/>
            <a:ext cx="1281362" cy="4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Posts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27489" y="1613892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One Action, Every Platform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27489" y="2087761"/>
            <a:ext cx="350908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three clients : mobile, web, and admin connect to the same REST API and Socket.IO server, ensuring seamless, instant synchronization.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27489" y="3433663"/>
            <a:ext cx="3509081" cy="278566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Job posted on mobile appears instantly on web app and admin dashboard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actions (suspend, verify) take effect across all platforms in real-time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notification system via Socket.IO ensures no user misses critical updates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86" y="682327"/>
            <a:ext cx="4119856" cy="54933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169616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Features &amp; User Experience</a:t>
            </a:r>
            <a:endParaRPr lang="en-US" sz="5100" dirty="0"/>
          </a:p>
        </p:txBody>
      </p:sp>
      <p:sp>
        <p:nvSpPr>
          <p:cNvPr id="5" name="Text 1"/>
          <p:cNvSpPr/>
          <p:nvPr/>
        </p:nvSpPr>
        <p:spPr>
          <a:xfrm>
            <a:off x="661475" y="408344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end-to-end journey from posting a job to leaving a review across every Kaarkun platform.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5" y="324445"/>
            <a:ext cx="4139303" cy="620910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843657"/>
            <a:ext cx="6296860" cy="72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Customer Workflow</a:t>
            </a:r>
            <a:endParaRPr lang="en-US" sz="4550" dirty="0"/>
          </a:p>
        </p:txBody>
      </p:sp>
      <p:sp>
        <p:nvSpPr>
          <p:cNvPr id="5" name="Text 1"/>
          <p:cNvSpPr/>
          <p:nvPr/>
        </p:nvSpPr>
        <p:spPr>
          <a:xfrm>
            <a:off x="5233360" y="1794470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initial need to satisfied completion, Kaarkun streamlines the home service experience across five intuitive steps for both customers and providers.</a:t>
            </a:r>
            <a:endParaRPr lang="en-US" sz="1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472333"/>
            <a:ext cx="6296860" cy="3542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Provider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84313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Providers experience a streamlined process, from discovering new opportunities to confirming job completion, all within the Kaarkun platform.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0459"/>
            <a:ext cx="5434373" cy="720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552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Browse &amp; Discover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1552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available service requests filtered by skill, location, and budget.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40459"/>
            <a:ext cx="5434373" cy="720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5925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Bid &amp; Compete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75925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Submit competitive offers with estimated time and custom cover letters.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0255"/>
            <a:ext cx="5434373" cy="720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552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Emergency Response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41552" y="5537002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Quickly accept urgent jobs for immediate dispatch, bypassing the bidding process.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0255"/>
            <a:ext cx="5434373" cy="720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5925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Secure Handshake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75925" y="5537002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arrival with customers using QR code scan or PIN entry for secure job initiation.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581" y="299343"/>
            <a:ext cx="4172639" cy="62592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734120"/>
            <a:ext cx="6296860" cy="114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 Dashboard &amp; User Management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61475" y="2020391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Kaarkun's comprehensive admin panel empowers operators with powerful tools to oversee and manage the entire platform efficiently.</a:t>
            </a:r>
            <a:endParaRPr lang="en-US" sz="1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87612"/>
            <a:ext cx="6296860" cy="7485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9573" y="2639516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Real-time KPIs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889573" y="2903141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platform performance, job statuses, and user activity with key metrics updated instantly.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29484"/>
            <a:ext cx="6296860" cy="7485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9573" y="3481388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89573" y="3745012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Efficiently suspend, delete, or modify user accounts, ensuring compliance and platform integrity.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71355"/>
            <a:ext cx="6296860" cy="9295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89573" y="4323259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Provider Verification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889573" y="4586883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AI-assisted KYC (Know Your Customer) streamlines background checks and ensures trusted service providers.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94300"/>
            <a:ext cx="6296860" cy="9295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9573" y="5346204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Account State Management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889573" y="5609828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 user and provider account states, including activation, deactivation, and privilege adjustments.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AWS Architecture Overview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closer look at Kaarkun's cloud infrastructure deployed within the AWS </a:t>
            </a:r>
            <a:r>
              <a:rPr lang="en-US" sz="7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ap-south-1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region, designed for scalability, security, and high availability.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8237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21859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Virtual Private Cloud (VPC) provides a dedicated and isolated network environment. Within this VPC, resources are organized into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public and private subnets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control access. The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Application Load Balancer (ALB)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efficiently distributes incoming application traffic to the stateless microservices running on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ECS Fargate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Data persistence is handled by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RDS MySQL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structured data and </a:t>
            </a:r>
            <a:r>
              <a:rPr lang="en-US" sz="7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S3</a:t>
            </a: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media and static assets.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CI/CD Pipeline with GitHub Actions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082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Kaarkun's deployment process ensures rapid, reliable, and continuous delivery of updates to all environments.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23269"/>
            <a:ext cx="5434373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29683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Master Branch Trigger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377009"/>
            <a:ext cx="505635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Pushes to the </a:t>
            </a:r>
            <a:r>
              <a:rPr lang="en-US" sz="14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master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branch initiate the workflow.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23269"/>
            <a:ext cx="5434373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4854" y="296832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Docker Build &amp; Push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84854" y="337700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Actions builds new Docker images and pushes them to AWS ECR.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70859"/>
            <a:ext cx="543437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82" y="511591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ECS Task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50482" y="552459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Terraform applies changes to update ECS task definitions with the latest image.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170859"/>
            <a:ext cx="5434373" cy="756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4854" y="5115917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Zero-Downtime Deploy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84854" y="5524599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ECS performs a rolling update, ensuring continuous service availability.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450" y="305693"/>
            <a:ext cx="4164305" cy="62466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21295"/>
            <a:ext cx="6296860" cy="122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 &amp; Authorization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661475" y="1903313"/>
            <a:ext cx="690644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Robust security measures to protect user data and control access.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661475" y="2221309"/>
            <a:ext cx="2028080" cy="2512120"/>
          </a:xfrm>
          <a:prstGeom prst="roundRect">
            <a:avLst>
              <a:gd name="adj" fmla="val 6291"/>
            </a:avLst>
          </a:prstGeom>
          <a:solidFill>
            <a:srgbClr val="CEE6FD"/>
          </a:solidFill>
          <a:ln/>
        </p:spPr>
      </p:sp>
      <p:sp>
        <p:nvSpPr>
          <p:cNvPr id="7" name="Shape 3"/>
          <p:cNvSpPr/>
          <p:nvPr/>
        </p:nvSpPr>
        <p:spPr>
          <a:xfrm>
            <a:off x="803156" y="2362994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132" y="2479873"/>
            <a:ext cx="191289" cy="1912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3156" y="2894509"/>
            <a:ext cx="1744718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Secure Password Hashing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03156" y="3401120"/>
            <a:ext cx="1744718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Utilizes </a:t>
            </a:r>
            <a:r>
              <a:rPr lang="en-US" sz="11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hash all user passwords before storage, preventing plaintext exposure.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95815" y="2221309"/>
            <a:ext cx="2028080" cy="2512120"/>
          </a:xfrm>
          <a:prstGeom prst="roundRect">
            <a:avLst>
              <a:gd name="adj" fmla="val 6291"/>
            </a:avLst>
          </a:prstGeom>
          <a:solidFill>
            <a:srgbClr val="CEE6FD"/>
          </a:solidFill>
          <a:ln/>
        </p:spPr>
      </p:sp>
      <p:sp>
        <p:nvSpPr>
          <p:cNvPr id="12" name="Shape 7"/>
          <p:cNvSpPr/>
          <p:nvPr/>
        </p:nvSpPr>
        <p:spPr>
          <a:xfrm>
            <a:off x="2937496" y="2362994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4472" y="2479873"/>
            <a:ext cx="191289" cy="1912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37496" y="2894509"/>
            <a:ext cx="1744718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Role base Authentication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2937496" y="3401120"/>
            <a:ext cx="174471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Implements JSON Web Tokens (JWT) for secure session management and role-based access control across all API endpoints.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30156" y="2221309"/>
            <a:ext cx="2028179" cy="2512120"/>
          </a:xfrm>
          <a:prstGeom prst="roundRect">
            <a:avLst>
              <a:gd name="adj" fmla="val 6291"/>
            </a:avLst>
          </a:prstGeom>
          <a:solidFill>
            <a:srgbClr val="CEE6FD"/>
          </a:solidFill>
          <a:ln/>
        </p:spPr>
      </p:sp>
      <p:sp>
        <p:nvSpPr>
          <p:cNvPr id="17" name="Shape 11"/>
          <p:cNvSpPr/>
          <p:nvPr/>
        </p:nvSpPr>
        <p:spPr>
          <a:xfrm>
            <a:off x="5071836" y="2362994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88812" y="2479873"/>
            <a:ext cx="191289" cy="1912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1836" y="2894509"/>
            <a:ext cx="174481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Account Status Blocking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071836" y="3401120"/>
            <a:ext cx="174481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System-wide blocking based on account status (e.g., suspended, unverified) to restrict access to platform features.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61475" y="4839692"/>
            <a:ext cx="6296860" cy="1496913"/>
          </a:xfrm>
          <a:prstGeom prst="roundRect">
            <a:avLst>
              <a:gd name="adj" fmla="val 8523"/>
            </a:avLst>
          </a:prstGeom>
          <a:solidFill>
            <a:srgbClr val="CEE6FD"/>
          </a:solidFill>
          <a:ln/>
        </p:spPr>
      </p:sp>
      <p:sp>
        <p:nvSpPr>
          <p:cNvPr id="22" name="Shape 15"/>
          <p:cNvSpPr/>
          <p:nvPr/>
        </p:nvSpPr>
        <p:spPr>
          <a:xfrm>
            <a:off x="803156" y="4981377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132" y="5098256"/>
            <a:ext cx="191289" cy="19129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3156" y="5512891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803156" y="5798046"/>
            <a:ext cx="60134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Protects against brute-force attacks and abuse by limiting attempts for login and OTP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09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Real-Time Communication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996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Socket.IO powers instant, bidirectional communication across Kaarkun, enabling dynamic user experiences and immediate data synchronization for all platforms.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1711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81711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Live Chat &amp; Messaging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225800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Instant, job-specific discussions between customers and providers, facilitating quick coordination and query resolution.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817118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2617" y="281711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Notifications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22617" y="3225800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alerts for new job postings, bid updates, booking confirmations, and critical status changes directly in-app.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51108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0177" y="451108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GPS Tracking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70177" y="4919762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location tracking for active jobs, allowing customers to monitor provider progress and estimated arrival times.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451108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17" y="451108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Secure Handshake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922617" y="4919762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secure WebSocket connection established via JWT for robust session validation and user authentication.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84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Seven AI-Powered Features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66552"/>
            <a:ext cx="406092" cy="406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1989" y="1466552"/>
            <a:ext cx="292608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Smart Job Matching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241989" y="1804095"/>
            <a:ext cx="2926086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recommends the most suitable service providers for each customer's job, ensuring optimal pairings based on skills, location, and availability.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2498" y="1466552"/>
            <a:ext cx="406092" cy="4061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23012" y="1466552"/>
            <a:ext cx="292608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Bid Price Suggestion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923012" y="1804095"/>
            <a:ext cx="2926086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Providers receive data-driven suggestions for competitive and profitable bid prices, improving their chances of winning jobs.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3520" y="1466552"/>
            <a:ext cx="406092" cy="4061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04035" y="1466552"/>
            <a:ext cx="29261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Job Description Autocomplete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604035" y="1804095"/>
            <a:ext cx="2926185" cy="12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Customers benefit from AI-powered suggestions and autocomplete functionality when drafting job descriptions, making posting quick and clear.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291185"/>
            <a:ext cx="406092" cy="4061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1989" y="3291185"/>
            <a:ext cx="292608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Support Chatbot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241989" y="3628727"/>
            <a:ext cx="2926086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intelligent chatbot provides instant answers to common customer and provider queries, offering 24/7 support and reducing agent workload.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498" y="3291185"/>
            <a:ext cx="406092" cy="4061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23012" y="3291185"/>
            <a:ext cx="292608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Review Fraud Detection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923012" y="3628727"/>
            <a:ext cx="2926086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algorithms analyze review patterns to detect and flag suspicious or fraudulent reviews, maintaining the integrity of provider ratings.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520" y="3291185"/>
            <a:ext cx="406092" cy="4061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604035" y="3291185"/>
            <a:ext cx="29261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Dispute Summarization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8604035" y="3628727"/>
            <a:ext cx="2926185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dispute details are automatically summarized by AI, enabling faster understanding and resolution for admin staff.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4874220"/>
            <a:ext cx="406092" cy="40610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41989" y="4874220"/>
            <a:ext cx="292608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KYC Verification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1241989" y="5211762"/>
            <a:ext cx="2926086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Know Your Customer (KYC) processes verify provider identities and documents swiftly and securely, enhancing platform trust.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163" y="282674"/>
            <a:ext cx="4194864" cy="62925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55228"/>
            <a:ext cx="6296860" cy="94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Building Trust: Reviews &amp; Verifications</a:t>
            </a:r>
            <a:endParaRPr lang="en-US" sz="2950" dirty="0"/>
          </a:p>
        </p:txBody>
      </p:sp>
      <p:sp>
        <p:nvSpPr>
          <p:cNvPr id="5" name="Text 1"/>
          <p:cNvSpPr/>
          <p:nvPr/>
        </p:nvSpPr>
        <p:spPr>
          <a:xfrm>
            <a:off x="661475" y="1592560"/>
            <a:ext cx="6296860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Ensuring quality, safety, and accountability for every transaction with robust systems for feedback, performance tracking, and dispute resolution.</a:t>
            </a:r>
            <a:endParaRPr lang="en-US" sz="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939429"/>
            <a:ext cx="6296860" cy="104348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4323" y="2037755"/>
            <a:ext cx="131065" cy="13106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83412" y="2376488"/>
            <a:ext cx="6052986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Post-job Ratings</a:t>
            </a:r>
            <a:endParaRPr lang="en-US" sz="1050" dirty="0"/>
          </a:p>
        </p:txBody>
      </p:sp>
      <p:sp>
        <p:nvSpPr>
          <p:cNvPr id="9" name="Text 3"/>
          <p:cNvSpPr/>
          <p:nvPr/>
        </p:nvSpPr>
        <p:spPr>
          <a:xfrm>
            <a:off x="783412" y="2585145"/>
            <a:ext cx="6052986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Customers provide 1-5 star ratings and comments after service completion, ensuring continuous quality feedback for providers and future customers.</a:t>
            </a:r>
            <a:endParaRPr lang="en-US" sz="8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46016"/>
            <a:ext cx="6296860" cy="1043484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4323" y="3144341"/>
            <a:ext cx="131065" cy="13106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83412" y="3483074"/>
            <a:ext cx="6052986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Provider Metrics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783412" y="3691731"/>
            <a:ext cx="6052986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Aggregated data on job completion rates, average ratings, response times, and cancellation rates visible to customers for informed choices.</a:t>
            </a:r>
            <a:endParaRPr lang="en-US" sz="8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2602"/>
            <a:ext cx="6296860" cy="1043484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4323" y="4250928"/>
            <a:ext cx="131065" cy="13106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83412" y="4589661"/>
            <a:ext cx="6052986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Fraud Detection</a:t>
            </a:r>
            <a:endParaRPr lang="en-US" sz="1050" dirty="0"/>
          </a:p>
        </p:txBody>
      </p:sp>
      <p:sp>
        <p:nvSpPr>
          <p:cNvPr id="17" name="Text 7"/>
          <p:cNvSpPr/>
          <p:nvPr/>
        </p:nvSpPr>
        <p:spPr>
          <a:xfrm>
            <a:off x="783412" y="4798318"/>
            <a:ext cx="6052986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 models identify suspicious activity, fake reviews, or unusual booking patterns to maintain platform integrity and fairness.</a:t>
            </a:r>
            <a:endParaRPr lang="en-US" sz="85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259189"/>
            <a:ext cx="6296860" cy="1043484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44323" y="5357515"/>
            <a:ext cx="131065" cy="131068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783412" y="5696248"/>
            <a:ext cx="6052986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Admin Dispute Tools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783412" y="5904905"/>
            <a:ext cx="6052986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admin panel features allow efficient summarization and resolution of disputes, with communication logs and evidence management.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86" y="338931"/>
            <a:ext cx="4119856" cy="6180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63575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 for Your Time</a:t>
            </a:r>
            <a:endParaRPr lang="en-US" sz="5100" dirty="0"/>
          </a:p>
        </p:txBody>
      </p:sp>
      <p:sp>
        <p:nvSpPr>
          <p:cNvPr id="5" name="Text 1"/>
          <p:cNvSpPr/>
          <p:nvPr/>
        </p:nvSpPr>
        <p:spPr>
          <a:xfrm>
            <a:off x="661475" y="2577405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deeply appreciate your interest in the Kaarkun project and the opportunity to share our vision.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any questions, further details, or potential collaborations, please feel free to reach out to us.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428317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Contact Information: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61475" y="4861917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Email: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/>
              </a:rPr>
              <a:t>zabbasdev@gmail.com</a:t>
            </a:r>
            <a:endParaRPr lang="en-US" sz="145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ct val="133000"/>
              </a:lnSpc>
              <a:spcAft>
                <a:spcPts val="1650"/>
              </a:spcAft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Website: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/>
              </a:rPr>
              <a:t>http://academy-dev-alb-1183018762.ap-south-1.elb.amazonaws.com/</a:t>
            </a:r>
            <a:endParaRPr lang="en-US" sz="145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ct val="133000"/>
              </a:lnSpc>
              <a:spcAft>
                <a:spcPts val="1650"/>
              </a:spcAft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Project Team: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Zaheer Abbas, Muhammad Dawood, Ismail Khan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40A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1268</Words>
  <Application>Microsoft Office PowerPoint</Application>
  <PresentationFormat>Widescreen</PresentationFormat>
  <Paragraphs>153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Consolas</vt:lpstr>
      <vt:lpstr>Instrument Sans Medium</vt:lpstr>
      <vt:lpstr>Instrument Sans SemiBold</vt:lpstr>
      <vt:lpstr>Instrument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Zaheer Abbas</cp:lastModifiedBy>
  <cp:revision>17</cp:revision>
  <dcterms:created xsi:type="dcterms:W3CDTF">2026-09-01T16:33:50Z</dcterms:created>
  <dcterms:modified xsi:type="dcterms:W3CDTF">2026-09-01T17:56:01Z</dcterms:modified>
</cp:coreProperties>
</file>