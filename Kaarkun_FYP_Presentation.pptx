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7280" y="822960"/>
            <a:ext cx="9994392" cy="5212080"/>
          </a:xfrm>
          <a:prstGeom prst="roundRect">
            <a:avLst/>
          </a:prstGeom>
          <a:solidFill>
            <a:srgbClr val="0A1A32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822960"/>
            <a:ext cx="9994392" cy="914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943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0F4FF"/>
                </a:solidFill>
              </a:rPr>
              <a:t>KAARKUN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14600"/>
            <a:ext cx="9994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6B6D4"/>
                </a:solidFill>
              </a:rPr>
              <a:t>On-Demand Home Services Marketplace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63240"/>
            <a:ext cx="99943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A3C2"/>
                </a:solidFill>
              </a:rPr>
              <a:t>Connecting customers with verified local service providers across Pakistan
Plumbers · Electricians · Cleaners · Carpenters · AC Repair and more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023360"/>
            <a:ext cx="9994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B82F6"/>
                </a:solidFill>
              </a:rPr>
              <a:t>●  Final Year Project 2024     ●  Zaheer Abbas     ●  Muhammad Dawood     ●  Ismail Khan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462272"/>
            <a:ext cx="9994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A3C2"/>
                </a:solidFill>
              </a:rPr>
              <a:t>Department of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21207"/>
            <a:ext cx="1005840" cy="502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</a:rPr>
              <a:t>Finding home services in Pakistan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3B82F6"/>
                </a:solidFill>
              </a:rPr>
              <a:t>is unreliable, opaque, and unsafe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544824" cy="224028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44824" cy="50292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911095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🔍  No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58568"/>
            <a:ext cx="321564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No way to check a worker's identity, skills, or track record before letting them into your home.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064" y="1783080"/>
            <a:ext cx="3544824" cy="224028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22064" y="1783080"/>
            <a:ext cx="3544824" cy="50292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6656" y="1911095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💰  No Transparent 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6656" y="2258568"/>
            <a:ext cx="321564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No upfront quotes. Customers discover the real price after the work — often inflated arbitrarily.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4048" y="1783080"/>
            <a:ext cx="3544824" cy="224028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04048" y="1783080"/>
            <a:ext cx="3544824" cy="50292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68640" y="1911095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📍  No Real-Time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8640" y="2258568"/>
            <a:ext cx="321564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No way to know if or when the worker is arriving. Customers are left waiting indefinitely with no information.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87952"/>
            <a:ext cx="3544824" cy="1481328"/>
          </a:xfrm>
          <a:prstGeom prst="roundRect">
            <a:avLst/>
          </a:prstGeom>
          <a:solidFill>
            <a:srgbClr val="140808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4187952"/>
            <a:ext cx="3544824" cy="64008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4315968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F4444"/>
                </a:solidFill>
              </a:rPr>
              <a:t>8+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956048"/>
            <a:ext cx="3215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Service categories with no dedicated digital booking platform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2064" y="4187952"/>
            <a:ext cx="3544824" cy="1481328"/>
          </a:xfrm>
          <a:prstGeom prst="roundRect">
            <a:avLst/>
          </a:prstGeom>
          <a:solidFill>
            <a:srgbClr val="140808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322064" y="4187952"/>
            <a:ext cx="3544824" cy="64008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6656" y="4315968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F4444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6656" y="4956048"/>
            <a:ext cx="3215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Platforms built — mobile, web, admin — solving this end-to-end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4048" y="4187952"/>
            <a:ext cx="3544824" cy="1481328"/>
          </a:xfrm>
          <a:prstGeom prst="roundRect">
            <a:avLst/>
          </a:prstGeom>
          <a:solidFill>
            <a:srgbClr val="140808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04048" y="4187952"/>
            <a:ext cx="3544824" cy="64008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68640" y="4315968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F4444"/>
                </a:solidFill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8640" y="4956048"/>
            <a:ext cx="3215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Distinct AI features making Kaarkun uniquely intelligent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OUR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21207"/>
            <a:ext cx="1005840" cy="502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</a:rPr>
              <a:t>A digital marketplace connecting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</a:rPr>
              <a:t>customers with verified providers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726692" cy="129844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7266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67712"/>
            <a:ext cx="16352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4FF"/>
                </a:solidFill>
              </a:rPr>
              <a:t>Post a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163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A3C2"/>
                </a:solidFill>
              </a:rPr>
              <a:t>Photos, budget,
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5916" y="2267712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76500" y="1783080"/>
            <a:ext cx="1726692" cy="129844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76500" y="1874519"/>
            <a:ext cx="17266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2220" y="2267712"/>
            <a:ext cx="16352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4FF"/>
                </a:solidFill>
              </a:rPr>
              <a:t>Bid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2220" y="2560320"/>
            <a:ext cx="163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A3C2"/>
                </a:solidFill>
              </a:rPr>
              <a:t>Providers compete
with quotes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2336" y="2267712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2920" y="1783080"/>
            <a:ext cx="1726692" cy="129844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12920" y="1874519"/>
            <a:ext cx="17266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8640" y="2267712"/>
            <a:ext cx="16352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4FF"/>
                </a:solidFill>
              </a:rPr>
              <a:t>Accept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8640" y="2560320"/>
            <a:ext cx="163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A3C2"/>
                </a:solidFill>
              </a:rPr>
              <a:t>Pick the
best offer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8756" y="2267712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9340" y="1783080"/>
            <a:ext cx="1726692" cy="129844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49340" y="1874519"/>
            <a:ext cx="17266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5060" y="2267712"/>
            <a:ext cx="16352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4FF"/>
                </a:solidFill>
              </a:rPr>
              <a:t>Track 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5060" y="2560320"/>
            <a:ext cx="163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A3C2"/>
                </a:solidFill>
              </a:rPr>
              <a:t>Real-time
GPS 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5176" y="2267712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85760" y="1783080"/>
            <a:ext cx="1726692" cy="129844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85760" y="1874519"/>
            <a:ext cx="17266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31480" y="2267712"/>
            <a:ext cx="16352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4FF"/>
                </a:solidFill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1480" y="2560320"/>
            <a:ext cx="163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A3C2"/>
                </a:solidFill>
              </a:rPr>
              <a:t>QR/PIN
arrival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1596" y="2267712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22180" y="1783080"/>
            <a:ext cx="1726692" cy="129844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22180" y="1874519"/>
            <a:ext cx="17266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4FF"/>
                </a:solidFill>
              </a:rPr>
              <a:t>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67900" y="2267712"/>
            <a:ext cx="16352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4FF"/>
                </a:solidFill>
              </a:rPr>
              <a:t>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67900" y="2560320"/>
            <a:ext cx="163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A3C2"/>
                </a:solidFill>
              </a:rPr>
              <a:t>Rate completed
work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273552"/>
            <a:ext cx="3544824" cy="248716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40080" y="3273552"/>
            <a:ext cx="3544824" cy="502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1" y="3401568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📱  Mobile App (Flutter)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1" y="3749039"/>
            <a:ext cx="321564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Android &amp; iOS. Primary end-user client with GPS tracking, chat, and 7 AI features.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22064" y="3273552"/>
            <a:ext cx="3544824" cy="248716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322064" y="3273552"/>
            <a:ext cx="3544824" cy="50292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86656" y="3401568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🌐  Web App (Next.js)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6656" y="3749039"/>
            <a:ext cx="321564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Browser-based. Full feature parity with the mobile app — no installation required.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04048" y="3273552"/>
            <a:ext cx="3544824" cy="248716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004048" y="3273552"/>
            <a:ext cx="3544824" cy="502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68640" y="3401568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⚙️  Admin Panel (Next.js)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68640" y="3749039"/>
            <a:ext cx="321564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Staff console. Provider KYC verification, analytics dashboard, and job moderation.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21207"/>
            <a:ext cx="1005840" cy="502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</a:rPr>
              <a:t>Three frontends,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</a:rPr>
              <a:t>one cloud-hosted 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64792"/>
            <a:ext cx="3544824" cy="566928"/>
          </a:xfrm>
          <a:prstGeom prst="roundRect">
            <a:avLst/>
          </a:prstGeom>
          <a:solidFill>
            <a:srgbClr val="0F2342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874519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</a:rPr>
              <a:t>📱 Flutter Mobile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064" y="1764792"/>
            <a:ext cx="3544824" cy="566928"/>
          </a:xfrm>
          <a:prstGeom prst="roundRect">
            <a:avLst/>
          </a:prstGeom>
          <a:solidFill>
            <a:srgbClr val="0F234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6656" y="1874519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</a:rPr>
              <a:t>🌐 Next.js Web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4048" y="1764792"/>
            <a:ext cx="3544824" cy="566928"/>
          </a:xfrm>
          <a:prstGeom prst="roundRect">
            <a:avLst/>
          </a:prstGeom>
          <a:solidFill>
            <a:srgbClr val="0F234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68640" y="1874519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</a:rPr>
              <a:t>⚙️ Next.js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3957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3A5F"/>
                </a:solidFill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2697480"/>
            <a:ext cx="7982712" cy="566928"/>
          </a:xfrm>
          <a:prstGeom prst="roundRect">
            <a:avLst/>
          </a:prstGeom>
          <a:solidFill>
            <a:srgbClr val="08122A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86000" y="2715768"/>
            <a:ext cx="7616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⚖️  AWS Application Load Balancer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008376"/>
            <a:ext cx="7616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academy-dev-alb-*.ap-south-1.elb.amazonaws.com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31927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3A5F"/>
                </a:solidFill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621024"/>
            <a:ext cx="6702552" cy="713232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07792" y="3639312"/>
            <a:ext cx="63642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</a:rPr>
              <a:t>⚙️  Node.js + Express Backend  (ECS Fargate · Port 5000)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7792" y="3931920"/>
            <a:ext cx="63642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REST API /api  ·  Socket.IO real-time  ·  AI Service (Groq/Gemini/Claude)  ·  multer-s3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439826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3A5F"/>
                </a:solidFill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09160"/>
            <a:ext cx="2624328" cy="804672"/>
          </a:xfrm>
          <a:prstGeom prst="roundRect">
            <a:avLst/>
          </a:prstGeom>
          <a:solidFill>
            <a:srgbClr val="0F234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773168"/>
            <a:ext cx="2350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🗄️  RDS MySQL
kaarkun_db · 11 tables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01568" y="4709160"/>
            <a:ext cx="2624328" cy="804672"/>
          </a:xfrm>
          <a:prstGeom prst="roundRect">
            <a:avLst/>
          </a:prstGeom>
          <a:solidFill>
            <a:srgbClr val="0F234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38728" y="4773168"/>
            <a:ext cx="2350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📦  AWS S3
academy-dev-uploads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4709160"/>
            <a:ext cx="2624328" cy="804672"/>
          </a:xfrm>
          <a:prstGeom prst="roundRect">
            <a:avLst/>
          </a:prstGeom>
          <a:solidFill>
            <a:srgbClr val="0F2342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0216" y="4773168"/>
            <a:ext cx="2350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🔐  Secrets Manager
JWT · DB creds · emails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24544" y="4709160"/>
            <a:ext cx="2624328" cy="804672"/>
          </a:xfrm>
          <a:prstGeom prst="roundRect">
            <a:avLst/>
          </a:prstGeom>
          <a:solidFill>
            <a:srgbClr val="0F234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61704" y="4773168"/>
            <a:ext cx="2350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F"/>
                </a:solidFill>
              </a:rPr>
              <a:t>🤖  AI APIs
Groq · Gemini · Claude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21207"/>
            <a:ext cx="1005840" cy="502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</a:rPr>
              <a:t>Full-stack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</a:rPr>
              <a:t>across 4 platforms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55648"/>
            <a:ext cx="3544824" cy="449884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755648"/>
            <a:ext cx="3544824" cy="5486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874519"/>
            <a:ext cx="3215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</a:rPr>
              <a:t>📱  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3500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Flutter / Dart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8072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Provider (state management)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32644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GoRouter (navigation)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7216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Dio HTTP + socket_io_client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1788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flutter_foreground_task (GPS)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6360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google_maps_flutter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50932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flutter_secure_storage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55504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geolocator  ·  fluttertoast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2064" y="1755648"/>
            <a:ext cx="3544824" cy="449884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22064" y="1755648"/>
            <a:ext cx="3544824" cy="54864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6656" y="1874519"/>
            <a:ext cx="3215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</a:rPr>
              <a:t>🌐  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6656" y="23500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Next.js 15 (App Router)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6656" y="28072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React + TypeScript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6656" y="32644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TailwindCSS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6656" y="37216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Axios + Socket.IO 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6656" y="41788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Google Maps JavaScript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6656" y="46360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next/image (S3 remote patterns)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4048" y="1755648"/>
            <a:ext cx="3544824" cy="449884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04048" y="1755648"/>
            <a:ext cx="3544824" cy="54864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68640" y="1874519"/>
            <a:ext cx="3215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</a:rPr>
              <a:t>⚙️  BACKEND &amp; CLOUD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8640" y="23500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Node.js + Express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28072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MySQL  (mysql2/promise pool)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8640" y="32644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Socket.IO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8640" y="37216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multer-s3  (file uploads → S3)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8640" y="41788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Nodemailer  (Gmail OTP)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8640" y="46360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AWS ECS · RDS · S3 · ALB · ECR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8640" y="50932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Terraform IaC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8640" y="55504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GitHub Actions CI/CD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8640" y="6007608"/>
            <a:ext cx="321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Groq · Gemini · Claude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CUSTOMER SIDE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21207"/>
            <a:ext cx="1005840" cy="502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</a:rPr>
              <a:t>Everything a customer needs,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</a:rPr>
              <a:t>in one seamless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64792"/>
            <a:ext cx="3544824" cy="230428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764792"/>
            <a:ext cx="3544824" cy="502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892807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📋  Post a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40280"/>
            <a:ext cx="3215640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Title, description with AI autocomplete, category, budget, location picker, up to 6 photos, negotiable + emergency flags.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064" y="1764792"/>
            <a:ext cx="3544824" cy="230428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22064" y="1764792"/>
            <a:ext cx="3544824" cy="502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6656" y="1892807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📨  Review Bids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6656" y="2240280"/>
            <a:ext cx="3215640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See all provider offers — amount, estimated time, cover letter. AI bid-price reference shown inline.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4048" y="1764792"/>
            <a:ext cx="3544824" cy="230428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04048" y="1764792"/>
            <a:ext cx="3544824" cy="50292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68640" y="1892807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✅  Accept &amp;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8640" y="2240280"/>
            <a:ext cx="3215640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Accept the best bid — booking created atomically. Race-condition-safe: two simultaneous taps cannot double-book.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78808"/>
            <a:ext cx="3544824" cy="230428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4178808"/>
            <a:ext cx="3544824" cy="50292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4306824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📍  Live GPS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654296"/>
            <a:ext cx="3215640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Real-time map shows provider en route. Smooth animated marker (Careem-style), live ETA, LIVE / SIGNAL LOST status chip.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2064" y="4178808"/>
            <a:ext cx="3544824" cy="230428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322064" y="4178808"/>
            <a:ext cx="3544824" cy="502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6656" y="4306824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🔲  QR Arrival 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6656" y="4654296"/>
            <a:ext cx="3215640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Scan provider's QR code to confirm they've arrived. Cryptographic single-use token — proves physical presence.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4048" y="4178808"/>
            <a:ext cx="3544824" cy="230428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04048" y="4178808"/>
            <a:ext cx="3544824" cy="502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68640" y="4306824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⭐  Rate &amp;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8640" y="4654296"/>
            <a:ext cx="3215640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1–5 star review after completion. One review per booking, enforced at the database level. Feeds provider star ratings.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PROVIDER SIDE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21207"/>
            <a:ext cx="1005840" cy="502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</a:rPr>
              <a:t>AI-powered tools to help providers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</a:rPr>
              <a:t>win more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64792"/>
            <a:ext cx="3544824" cy="230428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764792"/>
            <a:ext cx="3544824" cy="502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892807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🔍  Browse &amp; Filter Jobs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40280"/>
            <a:ext cx="3215640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Open jobs filtered to category + location radius. Emergency jobs highlighted for instant express-accept (skips bidding).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064" y="1764792"/>
            <a:ext cx="3544824" cy="230428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22064" y="1764792"/>
            <a:ext cx="3544824" cy="502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6656" y="1892807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🤖  AI Job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6656" y="2240280"/>
            <a:ext cx="3215640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Smart scoring: category fit + GPS proximity (Haversine formula) + provider rating + emergency bonus. Ranked with readable reasons.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4048" y="1764792"/>
            <a:ext cx="3544824" cy="230428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04048" y="1764792"/>
            <a:ext cx="3544824" cy="502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68640" y="1892807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💰  AI Bid Suggestions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8640" y="2240280"/>
            <a:ext cx="3215640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Price range derived from historical accepted bids in the same category. Min/max/average. Helps providers stay competitive.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78808"/>
            <a:ext cx="3544824" cy="230428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4178808"/>
            <a:ext cx="3544824" cy="502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4306824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📍  GPS Location Sharing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654296"/>
            <a:ext cx="3215640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Android Foreground Service keeps GPS alive when screen is off. Heartbeat every 4 s keeps customer's map live when stationary.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2064" y="4178808"/>
            <a:ext cx="3544824" cy="230428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322064" y="4178808"/>
            <a:ext cx="3544824" cy="502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6656" y="4306824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🔲  QR Arrival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6656" y="4654296"/>
            <a:ext cx="3215640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Generate a QR/PIN on arrival. Customer scans/enters it to start the job. Single-use token cleared after verification.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4048" y="4178808"/>
            <a:ext cx="3544824" cy="230428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04048" y="4178808"/>
            <a:ext cx="3544824" cy="502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68640" y="4306824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🆔  KYC 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8640" y="4654296"/>
            <a:ext cx="3215640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Upload CNIC + certificates at signup. Admin reviews with AI Gemini Vision confidence scoring before account is verified.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ARTIFICIAL INTELLIGENCE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21207"/>
            <a:ext cx="1005840" cy="502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</a:rPr>
              <a:t>7 AI features powered by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</a:rPr>
              <a:t>3-tier LLM fallback 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64792"/>
            <a:ext cx="5349240" cy="969264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810512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828800"/>
            <a:ext cx="4434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</a:rPr>
              <a:t>Groq — Llama 3.3 70B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139696"/>
            <a:ext cx="4434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Tried first. Free tier, fastest response.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43784"/>
            <a:ext cx="5349240" cy="969264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889504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907791"/>
            <a:ext cx="4434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</a:rPr>
              <a:t>Google Gemini 1.5 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218687"/>
            <a:ext cx="4434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Fallback if Groq fails or rate-limits (429).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22776"/>
            <a:ext cx="5349240" cy="969264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968496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986783"/>
            <a:ext cx="4434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</a:rPr>
              <a:t>Anthropic Claude Haiku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4297679"/>
            <a:ext cx="4434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Final paid fallback.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001768"/>
            <a:ext cx="5349240" cy="969264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5047488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5065776"/>
            <a:ext cx="4434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4FF"/>
                </a:solidFill>
              </a:rPr>
              <a:t>Rule-Based Offline 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5376672"/>
            <a:ext cx="4434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Keyword templates — never errors out, zero API keys needed.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64792"/>
            <a:ext cx="5285232" cy="617873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63640" y="1764792"/>
            <a:ext cx="50292" cy="617873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1810512"/>
            <a:ext cx="4937760" cy="526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📝  Job Description Autocomplete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437529"/>
            <a:ext cx="5285232" cy="617873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63640" y="2437529"/>
            <a:ext cx="50292" cy="617873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2483249"/>
            <a:ext cx="4937760" cy="526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💰  Bid Price Suggestion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110266"/>
            <a:ext cx="5285232" cy="617873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63640" y="3110266"/>
            <a:ext cx="50292" cy="617873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3155986"/>
            <a:ext cx="4937760" cy="526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🎯  Smart Job-Provider Matching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783003"/>
            <a:ext cx="5285232" cy="617873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263640" y="3783003"/>
            <a:ext cx="50292" cy="617873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3828723"/>
            <a:ext cx="4937760" cy="526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🆔  AI KYC Document Verification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455740"/>
            <a:ext cx="5285232" cy="617873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263640" y="4455740"/>
            <a:ext cx="50292" cy="617873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4501460"/>
            <a:ext cx="4937760" cy="526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💬  Support Chatbot (live DB context)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5128477"/>
            <a:ext cx="5285232" cy="617873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263640" y="5128477"/>
            <a:ext cx="50292" cy="617873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46520" y="5174197"/>
            <a:ext cx="4937760" cy="526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🚨  Review Fraud Detection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5801214"/>
            <a:ext cx="5285232" cy="617873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263640" y="5801214"/>
            <a:ext cx="50292" cy="617873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46520" y="5846934"/>
            <a:ext cx="4937760" cy="526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⚖️  AI Dispute Summarization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REAL-TIME GPS TRACKING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21207"/>
            <a:ext cx="1005840" cy="502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</a:rPr>
              <a:t>Careem/Uber-style live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</a:rPr>
              <a:t>built for home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64792"/>
            <a:ext cx="5989320" cy="872337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856231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🔋  Android Foreground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67128"/>
            <a:ext cx="5577840" cy="396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flutter_foreground_task keeps GPS alive when screen is off. Persistent notification shown so Android won't kill the process.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10281"/>
            <a:ext cx="5989320" cy="872337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801721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📡  GPS Stream + Heartbeat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112617"/>
            <a:ext cx="5577840" cy="396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distanceFilter: 3 m fires on real movement. onRepeatEvent every 4 s re-emits last position when provider is stationary.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5771"/>
            <a:ext cx="5989320" cy="872337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3747211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🚗  Smooth Marker Animation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058107"/>
            <a:ext cx="5577840" cy="396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AnimationController + Tween&lt;double&gt; — marker glides 1.2 s with ease-in-out curve. Same effect as the Careem car icon.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01260"/>
            <a:ext cx="5989320" cy="872337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469270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⏱️  Live ETA Estimate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003596"/>
            <a:ext cx="5577840" cy="396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Geolocator.distanceBetween() to job location. Walking speed &lt;500 m, vehicle speed ≥500 m. Updated on every GPS fix.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546750"/>
            <a:ext cx="5989320" cy="872337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563819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📶  3-State Status Chip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949086"/>
            <a:ext cx="5577840" cy="396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⏳ WAITING  →  📶 SIGNAL LOST (no update &gt;8 s)  →  🟢 LIVE. Customer always knows exactly what's happening.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1764792"/>
            <a:ext cx="4690872" cy="324612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0" y="1847088"/>
            <a:ext cx="4315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Background Isolate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249424"/>
            <a:ext cx="4315968" cy="2633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Android Foreground Service
  └─ Background Dart Isolate
        ├─ GPS stream  distanceFilter: 3 m
        └─ onRepeatEvent  every 4 s
              ↓  sendDataToMain(lat, lng)
  Main Isolate
        └─ socket.emitLocationUpdate()
              → Backend → Customer 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5120640"/>
            <a:ext cx="4690872" cy="777240"/>
          </a:xfrm>
          <a:prstGeom prst="roundRect">
            <a:avLst/>
          </a:prstGeom>
          <a:solidFill>
            <a:srgbClr val="0416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0" y="5193792"/>
            <a:ext cx="43159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🏁  "On Their Way!" Banner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5468112"/>
            <a:ext cx="4315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SnackBar fires on the very first GPS fix — customer knows instantly that the provider is moving toward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REAL-TIME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21207"/>
            <a:ext cx="1005840" cy="502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</a:rPr>
              <a:t>Socket.IO powering live chat,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</a:rPr>
              <a:t>notifications, and GPS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64792"/>
            <a:ext cx="3544824" cy="358444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764792"/>
            <a:ext cx="3544824" cy="502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892807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💬  Live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40280"/>
            <a:ext cx="3215640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Real-time chat between customer and provider per job.
Text + image attachments (stored in AWS S3).
Typing indicators and read receipts.
Events:  new_message  ·  user_typing  ·  read_receipt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064" y="1764792"/>
            <a:ext cx="3544824" cy="358444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22064" y="1764792"/>
            <a:ext cx="3544824" cy="50292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6656" y="1892807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🔔  Instant 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6656" y="2240280"/>
            <a:ext cx="3215640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No polling. Every event (bid received, bid accepted, booking status change, account suspension) is pushed immediately via Socket.IO to the user's private room (user_&lt;id&gt;).
Events:  new_notification  ·  user_online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4048" y="1764792"/>
            <a:ext cx="3544824" cy="358444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04048" y="1764792"/>
            <a:ext cx="3544824" cy="502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68640" y="1892807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🔐  Secure Connection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8640" y="2240280"/>
            <a:ext cx="3215640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JWT handshake on connect — server verifies token before allowing join. Each user auto-joins their private room.
Chat authorization: sender/receiver pair must correspond to actual job participants. Arbitrary IDs cannot be messaged.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532120"/>
            <a:ext cx="10908792" cy="74980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5623560"/>
            <a:ext cx="105704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🛡️  Socket.IO server runs alongside the REST API in the same ECS container. JWT-authenticated connections only. Rooms auto-clean on disconnect. The mobile app reconnects automatically on network restore and re-joins its room.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21207"/>
            <a:ext cx="1005840" cy="502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</a:rPr>
              <a:t>Production-grade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</a:rPr>
              <a:t>at every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64792"/>
            <a:ext cx="5372100" cy="108585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856231"/>
            <a:ext cx="50977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🔒  Password Hashing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67128"/>
            <a:ext cx="5097780" cy="59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bcryptjs cost factor 12 for both user and admin accounts.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6772" y="1764792"/>
            <a:ext cx="5372100" cy="108585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13932" y="1856231"/>
            <a:ext cx="50977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🎫  JWT Role-Based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3932" y="2167128"/>
            <a:ext cx="5097780" cy="59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authorize() middleware + separate adminAuth table — admin tokens cannot be forged from regular user tokens.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42082"/>
            <a:ext cx="5372100" cy="108585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033522"/>
            <a:ext cx="50977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🚫  Account Status Enforcement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44418"/>
            <a:ext cx="5097780" cy="59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Blocked/rejected users locked out at middleware level on every request — not just at login.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6772" y="2942082"/>
            <a:ext cx="5372100" cy="108585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3932" y="3033522"/>
            <a:ext cx="50977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⏱️  Rate Limiting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2" y="3344418"/>
            <a:ext cx="5097780" cy="59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Login: 10 req / 15 min.  OTP: 10 req / 10 min. Blunts brute-force and credential-stuffing attacks.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19372"/>
            <a:ext cx="5372100" cy="108585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210812"/>
            <a:ext cx="50977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📱  Mobile Secure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1708"/>
            <a:ext cx="5097780" cy="59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JWT stored in OS keystore via flutter_secure_storage — never in plaintext SharedPreferences.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6772" y="4119372"/>
            <a:ext cx="5372100" cy="108585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13932" y="4210812"/>
            <a:ext cx="50977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⚛️  Race-Condition-Safe Booking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3932" y="4521708"/>
            <a:ext cx="5097780" cy="59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Atomic DB transaction: UPDATE jobs SET status='active' WHERE status='open'. Two concurrent accepts cannot both succeed.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96662"/>
            <a:ext cx="5372100" cy="108585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388102"/>
            <a:ext cx="50977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🔐  AWS Secrets Manager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698998"/>
            <a:ext cx="5097780" cy="59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JWT, DB password, and email creds injected at runtime in production. Never hardcoded in source code.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6772" y="5296662"/>
            <a:ext cx="5372100" cy="108585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13932" y="5388102"/>
            <a:ext cx="50977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403  HTTP 403 vs 401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3932" y="5698998"/>
            <a:ext cx="5097780" cy="59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403 (business denial) shows a toast — never logs out. Only 401 (expired JWT) triggers logout.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ADMIN PANEL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21207"/>
            <a:ext cx="1005840" cy="502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</a:rPr>
              <a:t>Full operations console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</a:rPr>
              <a:t>AI-assisted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64792"/>
            <a:ext cx="3544824" cy="230428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764792"/>
            <a:ext cx="3544824" cy="502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892807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📊  Live Analytics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40280"/>
            <a:ext cx="3215640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Real KPI cards (users, jobs, bids, categories). 12-month signup trend bar chart. Top-5 category breakdown. All live SQL aggregates — no mock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064" y="1764792"/>
            <a:ext cx="3544824" cy="230428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22064" y="1764792"/>
            <a:ext cx="3544824" cy="502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6656" y="1892807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🆔  Provider KYC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6656" y="2240280"/>
            <a:ext cx="3215640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View CNIC + certificates. One-click AI auto-verify calls Gemini Vision → confidence score + notes. Admin approves or rejects with one click.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4048" y="1764792"/>
            <a:ext cx="3544824" cy="230428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04048" y="1764792"/>
            <a:ext cx="3544824" cy="502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68640" y="1892807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📋  CSV 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8640" y="2240280"/>
            <a:ext cx="3215640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Export full customer list to CSV for reporting, analytics, or backups. Available from the users management page.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78808"/>
            <a:ext cx="3544824" cy="230428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4178808"/>
            <a:ext cx="3544824" cy="5029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4306824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👥  User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654296"/>
            <a:ext cx="3215640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Suspend (with reason + auto-email), unsuspend, or delete accounts. Suspension with an active booking instantly notifies the other party via Socket.IO.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2064" y="4178808"/>
            <a:ext cx="3544824" cy="230428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322064" y="4178808"/>
            <a:ext cx="3544824" cy="5029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6656" y="4306824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⚖️  AI Dispute Summarizer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6656" y="4654296"/>
            <a:ext cx="3215640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For any job with chat history, the LLM reads the full transcript and returns a structured 3-part summary: customer's claim / provider's claim / recommendation.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4048" y="4178808"/>
            <a:ext cx="3544824" cy="2304288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04048" y="4178808"/>
            <a:ext cx="3544824" cy="5029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68640" y="4306824"/>
            <a:ext cx="3215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🗂️  Category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8640" y="4654296"/>
            <a:ext cx="3215640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Add or delete service categories. Changes propagate to all three frontends immediately via shared backend API.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DATABASE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21207"/>
            <a:ext cx="1005840" cy="502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</a:rPr>
              <a:t>11 tables, fully normalized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</a:rPr>
              <a:t>with cascade-delete integrity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64792"/>
            <a:ext cx="2631186" cy="141732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764792"/>
            <a:ext cx="2631186" cy="4572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856231"/>
            <a:ext cx="241173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85416"/>
            <a:ext cx="24117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role, status, lat/lng,
otp_code, otp_expiry, avatar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9282" y="1764792"/>
            <a:ext cx="2631186" cy="141732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99282" y="1764792"/>
            <a:ext cx="2631186" cy="4572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09010" y="1856231"/>
            <a:ext cx="241173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admins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9010" y="2185416"/>
            <a:ext cx="24117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Separate from users.
username, email, password_hash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8484" y="1764792"/>
            <a:ext cx="2631186" cy="141732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58484" y="1764792"/>
            <a:ext cx="2631186" cy="4572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8212" y="1856231"/>
            <a:ext cx="241173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provider_profiles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8212" y="2185416"/>
            <a:ext cx="24117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bio, skills (JSON), rating,
cnic_url, ai_confidence_score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7686" y="1764792"/>
            <a:ext cx="2631186" cy="141732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917686" y="1764792"/>
            <a:ext cx="2631186" cy="4572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27414" y="1856231"/>
            <a:ext cx="241173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categories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7414" y="2185416"/>
            <a:ext cx="24117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8 seeded: Plumber,
Electrician, Carpenter…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73552"/>
            <a:ext cx="2631186" cy="141732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0080" y="3273552"/>
            <a:ext cx="2631186" cy="4572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3364992"/>
            <a:ext cx="241173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jobs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694176"/>
            <a:ext cx="24117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budget (PKR), lat/lng,
images (JSON), status,
is_emergency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99282" y="3273552"/>
            <a:ext cx="2631186" cy="141732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399282" y="3273552"/>
            <a:ext cx="2631186" cy="4572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09010" y="3364992"/>
            <a:ext cx="241173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bids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010" y="3694176"/>
            <a:ext cx="24117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amount, estimated_time,
cover_letter, 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58484" y="3273552"/>
            <a:ext cx="2631186" cy="141732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158484" y="3273552"/>
            <a:ext cx="2631186" cy="4572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68212" y="3364992"/>
            <a:ext cx="241173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bookings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8212" y="3694176"/>
            <a:ext cx="24117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status lifecycle,
verification_token
(QR/PIN handshake)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17686" y="3273552"/>
            <a:ext cx="2631186" cy="141732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917686" y="3273552"/>
            <a:ext cx="2631186" cy="4572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27414" y="3364992"/>
            <a:ext cx="241173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reviews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7414" y="3694176"/>
            <a:ext cx="24117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rating (1–5), comment.
UNIQUE on booking_id
— one per booking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782312"/>
            <a:ext cx="2631186" cy="141732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40080" y="4782312"/>
            <a:ext cx="2631186" cy="4572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9808" y="4873752"/>
            <a:ext cx="241173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messages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5202936"/>
            <a:ext cx="24117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content, image_url,
is_read. Scoped per
job conversation.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99282" y="4782312"/>
            <a:ext cx="2631186" cy="141732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3399282" y="4782312"/>
            <a:ext cx="2631186" cy="4572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509010" y="4873752"/>
            <a:ext cx="241173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notifications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09010" y="5202936"/>
            <a:ext cx="24117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title, message, type,
is_read. Real-time
via Socket.IO.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58484" y="4782312"/>
            <a:ext cx="2631186" cy="141732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158484" y="4782312"/>
            <a:ext cx="2631186" cy="4572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68212" y="4873752"/>
            <a:ext cx="241173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refresh_tokens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8212" y="5202936"/>
            <a:ext cx="24117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JWT token rotation.
expires_at enforced.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327648"/>
            <a:ext cx="109087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→  Schema runs on startup via initializeDatabase(). Uses CREATE TABLE IF NOT EXISTS — safe to re-run, never destructive.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CLOUD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21207"/>
            <a:ext cx="1005840" cy="502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</a:rPr>
              <a:t>Production on AWS ap-south-1 (Mumbai)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</a:rPr>
              <a:t>automated with Terraform + GitHub 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64792"/>
            <a:ext cx="10908792" cy="585216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80136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CI/CD 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847088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82F6"/>
                </a:solidFill>
              </a:rPr>
              <a:t>git push master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6976" y="1847088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9392" y="1847088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GitHub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1807" y="1847088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1847088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Build 3 Docker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847088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9056" y="1847088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A3C2"/>
                </a:solidFill>
              </a:rPr>
              <a:t>Push to ECR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1472" y="1847088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33888" y="1847088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ECS Rolling Deploy 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496312"/>
            <a:ext cx="1726692" cy="1993392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2496312"/>
            <a:ext cx="1726692" cy="502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2578608"/>
            <a:ext cx="17266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0F4FF"/>
                </a:solidFill>
              </a:rPr>
              <a:t>⚖️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1" y="2944368"/>
            <a:ext cx="15803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4FF"/>
                </a:solidFill>
              </a:rPr>
              <a:t>ALB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1" y="3273552"/>
            <a:ext cx="158038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A3C2"/>
                </a:solidFill>
              </a:rPr>
              <a:t>Routes HTTP traffic
to all 3 services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76500" y="2496312"/>
            <a:ext cx="1726692" cy="1993392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476500" y="2496312"/>
            <a:ext cx="1726692" cy="502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76500" y="2578608"/>
            <a:ext cx="17266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0F4FF"/>
                </a:solidFill>
              </a:rPr>
              <a:t>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49652" y="2944368"/>
            <a:ext cx="15803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4FF"/>
                </a:solidFill>
              </a:rPr>
              <a:t>ECS Fargate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9652" y="3273552"/>
            <a:ext cx="158038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A3C2"/>
                </a:solidFill>
              </a:rPr>
              <a:t>3 services: backend,
frontend, admin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2920" y="2496312"/>
            <a:ext cx="1726692" cy="1993392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312920" y="2496312"/>
            <a:ext cx="1726692" cy="502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12920" y="2578608"/>
            <a:ext cx="17266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0F4FF"/>
                </a:solidFill>
              </a:rPr>
              <a:t>🗄️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6072" y="2944368"/>
            <a:ext cx="15803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4FF"/>
                </a:solidFill>
              </a:rPr>
              <a:t>RDS MySQL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6072" y="3273552"/>
            <a:ext cx="158038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A3C2"/>
                </a:solidFill>
              </a:rPr>
              <a:t>Managed MySQL 8
kaarkun_db · auto backup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9340" y="2496312"/>
            <a:ext cx="1726692" cy="1993392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149340" y="2496312"/>
            <a:ext cx="1726692" cy="50292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49340" y="2578608"/>
            <a:ext cx="17266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0F4FF"/>
                </a:solidFill>
              </a:rPr>
              <a:t>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22492" y="2944368"/>
            <a:ext cx="15803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4FF"/>
                </a:solidFill>
              </a:rPr>
              <a:t>S3 Bucket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22492" y="3273552"/>
            <a:ext cx="158038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A3C2"/>
                </a:solidFill>
              </a:rPr>
              <a:t>academy-dev-uploads
avatars · images · chat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85760" y="2496312"/>
            <a:ext cx="1726692" cy="1993392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985760" y="2496312"/>
            <a:ext cx="1726692" cy="5029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85760" y="2578608"/>
            <a:ext cx="17266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0F4FF"/>
                </a:solidFill>
              </a:rPr>
              <a:t>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58912" y="2944368"/>
            <a:ext cx="15803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4FF"/>
                </a:solidFill>
              </a:rPr>
              <a:t>Secrets Manager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58912" y="3273552"/>
            <a:ext cx="158038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A3C2"/>
                </a:solidFill>
              </a:rPr>
              <a:t>JWT · DB creds · email
injected at ECS runtime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22180" y="2496312"/>
            <a:ext cx="1726692" cy="1993392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822180" y="2496312"/>
            <a:ext cx="1726692" cy="502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22180" y="2578608"/>
            <a:ext cx="17266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0F4FF"/>
                </a:solidFill>
              </a:rPr>
              <a:t>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5332" y="2944368"/>
            <a:ext cx="15803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4FF"/>
                </a:solidFill>
              </a:rPr>
              <a:t>ECR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95332" y="3273552"/>
            <a:ext cx="158038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A3C2"/>
                </a:solidFill>
              </a:rPr>
              <a:t>3 private image repos
backend · frontend · admin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4663440"/>
            <a:ext cx="10908792" cy="676656"/>
          </a:xfrm>
          <a:prstGeom prst="roundRect">
            <a:avLst/>
          </a:prstGeom>
          <a:solidFill>
            <a:srgbClr val="120D0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4672" y="4736592"/>
            <a:ext cx="105704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9E0B"/>
                </a:solidFill>
              </a:rPr>
              <a:t>🏗️  Terraform IaC — The entire AWS infrastructure is defined as code. Run "terraform apply -var-file=terraform.tfvars -var-file=secrets.tfvars" to recreate the full production stack in any region.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5468112"/>
            <a:ext cx="10908792" cy="100584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4672" y="5559552"/>
            <a:ext cx="10570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⚙️  GitHub Actions Detail: configure AWS credentials → ECR login → build backend (no build args; secrets from Secrets Manager at runtime) → build frontend + admin (with NEXT_PUBLIC_API_URL / NEXT_PUBLIC_WS_URL) → register new ECS task definition (preserving Secrets Manager refs) → update all 3 ECS services (rolling deploy, zero downtime).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WHAT MAKES KAARKUN UNIQUE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21207"/>
            <a:ext cx="1005840" cy="502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</a:rPr>
              <a:t>Why this project stands apart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</a:rPr>
              <a:t>from what already exists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64792"/>
            <a:ext cx="10908792" cy="720852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658368" cy="592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82880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3-Tier AI Fallback Chain — Never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130552"/>
            <a:ext cx="7772400" cy="263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Groq → Gemini → Claude → Rule-based offline. AI features work even with zero API keys configured. No other FYP implements this resilience pattern.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08792" y="1764792"/>
            <a:ext cx="640080" cy="720852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549652"/>
            <a:ext cx="10908792" cy="720852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613659"/>
            <a:ext cx="658368" cy="592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613659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Careem/Uber-Style GPS Tracking for Home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915411"/>
            <a:ext cx="7772400" cy="263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Android Foreground Service + smooth animated marker + ETA + 3-state stale detection. No existing Pakistani home-service app has this feature.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08792" y="2549652"/>
            <a:ext cx="640080" cy="720852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3334512"/>
            <a:ext cx="10908792" cy="720852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3398519"/>
            <a:ext cx="658368" cy="592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398519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QR/PIN Arrival Verification — Cryptographic Presence Proof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3700272"/>
            <a:ext cx="7772400" cy="263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Proves the provider is physically on-site before the job starts. Single-use token cleared after verification. Prevents false "I'm here" claims.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08792" y="3334512"/>
            <a:ext cx="640080" cy="72085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" y="4119372"/>
            <a:ext cx="10908792" cy="720852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183380"/>
            <a:ext cx="658368" cy="592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6192" y="418338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AI KYC Document Verification via Gemini Vision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4485132"/>
            <a:ext cx="7772400" cy="263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Multimodal CNIC image analysis gives admin a confidence score before approving providers. Automated trust at the onboarding stage.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08792" y="4119372"/>
            <a:ext cx="640080" cy="72085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4904232"/>
            <a:ext cx="10908792" cy="720852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4968240"/>
            <a:ext cx="658368" cy="592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2" y="496824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Full AWS Production Deployment with Terraform IaC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5269992"/>
            <a:ext cx="7772400" cy="263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Not a localhost demo — running in production on ECS Fargate, RDS, S3, and ALB. Entire infrastructure reproducible with a single "terraform apply".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08792" y="4904232"/>
            <a:ext cx="640080" cy="72085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40080" y="5689092"/>
            <a:ext cx="10908792" cy="720852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" y="5753100"/>
            <a:ext cx="658368" cy="592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36192" y="575310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F"/>
                </a:solidFill>
              </a:rPr>
              <a:t>7 Distinct AI Features Solving Real Marketplace Problems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36192" y="6054852"/>
            <a:ext cx="7772400" cy="263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2"/>
                </a:solidFill>
              </a:rPr>
              <a:t>Matching, bid suggestions, autocomplete, KYC, chatbot, fraud detection, dispute summarization — each one addresses a genuine pain point in the platform.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08792" y="5689092"/>
            <a:ext cx="640080" cy="720852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201168"/>
            <a:ext cx="10908792" cy="841248"/>
          </a:xfrm>
          <a:prstGeom prst="roundRect">
            <a:avLst/>
          </a:prstGeom>
          <a:solidFill>
            <a:srgbClr val="0A1A32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0F4FF"/>
                </a:solidFill>
              </a:rPr>
              <a:t>KAARKUN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10908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B6D4"/>
                </a:solidFill>
              </a:rPr>
              <a:t>Final Year Project  ·  Department of Computer Science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83864" cy="338328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970532" y="1737360"/>
            <a:ext cx="822960" cy="822960"/>
          </a:xfrm>
          <a:prstGeom prst="ellipse">
            <a:avLst/>
          </a:prstGeom>
          <a:solidFill>
            <a:srgbClr val="0A1A32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70532" y="181051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563EB"/>
                </a:solidFill>
              </a:rPr>
              <a:t>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24912"/>
            <a:ext cx="3209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F4FF"/>
                </a:solidFill>
              </a:rPr>
              <a:t>Zaheer Abbas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72384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563EB"/>
                </a:solidFill>
              </a:rPr>
              <a:t>Full-Stack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19856"/>
            <a:ext cx="3209544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A3C2"/>
                </a:solidFill>
              </a:rPr>
              <a:t>Backend API, mobile app, real-time GPS tracking,
AI integration, and overall system architecture.
learntechdigital@gmail.com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600200"/>
            <a:ext cx="3483864" cy="338328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82996" y="1737360"/>
            <a:ext cx="822960" cy="822960"/>
          </a:xfrm>
          <a:prstGeom prst="ellipse">
            <a:avLst/>
          </a:prstGeom>
          <a:solidFill>
            <a:srgbClr val="0A1A32"/>
          </a:solidFill>
          <a:ln w="228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82996" y="181051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B6D4"/>
                </a:solidFill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724912"/>
            <a:ext cx="3209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F4FF"/>
                </a:solidFill>
              </a:rPr>
              <a:t>Muhammad Dawood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3072384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B6D4"/>
                </a:solidFill>
              </a:rPr>
              <a:t>DevOps &amp;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3419856"/>
            <a:ext cx="3209544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A3C2"/>
                </a:solidFill>
              </a:rPr>
              <a:t>AWS infrastructure setup, Terraform IaC,
ECS Fargate deployment, and
GitHub Actions CI/CD pipeline.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600200"/>
            <a:ext cx="3483864" cy="3383280"/>
          </a:xfrm>
          <a:prstGeom prst="roundRect">
            <a:avLst/>
          </a:prstGeom>
          <a:solidFill>
            <a:srgbClr val="0F234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395460" y="1737360"/>
            <a:ext cx="822960" cy="822960"/>
          </a:xfrm>
          <a:prstGeom prst="ellipse">
            <a:avLst/>
          </a:prstGeom>
          <a:solidFill>
            <a:srgbClr val="0A1A32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95460" y="181051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</a:rPr>
              <a:t>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724912"/>
            <a:ext cx="3209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F4FF"/>
                </a:solidFill>
              </a:rPr>
              <a:t>Ismail Khan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3072384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9E0B"/>
                </a:solidFill>
              </a:rPr>
              <a:t>Frontend &amp; UI/UX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3419856"/>
            <a:ext cx="3209544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A3C2"/>
                </a:solidFill>
              </a:rPr>
              <a:t>Web application, admin panel UI,
mobile app screens, and
overall user experience design.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66360"/>
            <a:ext cx="10908792" cy="1389888"/>
          </a:xfrm>
          <a:prstGeom prst="roundRect">
            <a:avLst/>
          </a:prstGeom>
          <a:solidFill>
            <a:srgbClr val="08122A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" y="5166360"/>
            <a:ext cx="10908792" cy="6400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321808"/>
            <a:ext cx="109087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0F4FF"/>
                </a:solidFill>
              </a:rPr>
              <a:t>Thank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70448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A3C2"/>
                </a:solidFill>
              </a:rPr>
              <a:t>Questions? We would love to walk you through any part of the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2526</Words>
  <Application>Microsoft Office PowerPoint</Application>
  <PresentationFormat>Widescreen</PresentationFormat>
  <Paragraphs>307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Zaheer Abbas</cp:lastModifiedBy>
  <cp:revision>1</cp:revision>
  <dcterms:created xsi:type="dcterms:W3CDTF">2013-01-27T09:14:16Z</dcterms:created>
  <dcterms:modified xsi:type="dcterms:W3CDTF">2026-08-23T06:51:44Z</dcterms:modified>
  <cp:category/>
</cp:coreProperties>
</file>